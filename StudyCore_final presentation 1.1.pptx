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8" r:id="rId6"/>
    <p:sldId id="271" r:id="rId7"/>
    <p:sldId id="261" r:id="rId8"/>
    <p:sldId id="269" r:id="rId9"/>
    <p:sldId id="270" r:id="rId10"/>
    <p:sldId id="272" r:id="rId11"/>
    <p:sldId id="262" r:id="rId12"/>
    <p:sldId id="259" r:id="rId13"/>
    <p:sldId id="265" r:id="rId14"/>
    <p:sldId id="263" r:id="rId15"/>
    <p:sldId id="266" r:id="rId16"/>
    <p:sldId id="264" r:id="rId17"/>
    <p:sldId id="26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7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53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introducing StudyCore — a C++ console application for intelligent study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what StudyCore does, why it's useful, and how it's built. 4 key pillars.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core features of StudyCore shown as feature cards with icons.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4 pillars of OOP demonstrated with actual code snippets from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Strategy pattern: Planner interface, TimetablePlanner implementation, StudyContext holding the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Facade pattern: StudyFacade wraps all subsystem complexity. main() is just 2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UML-style class diagram showing all 5 classes, their members, and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dive into two critical functions: addProgress with validation and executePlan with strategy dispatch.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 flow: bubble sort by exam date, then smart chapter allocation with edge case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user journey from login to timetable generation. Key program design details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terminal windows showing welcome screen and a generated timetable for Mathematics with 8 chapters in 5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project achievements: OOP, patterns, algorithm, validation, and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5029200" cy="50292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0058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StudyCore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11480" y="2011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Study Engine  v1.0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1148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C++ Console Application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11480" y="3063240"/>
            <a:ext cx="41148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 •  Design Patterns  •  Smart Timetable Generation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C++  |  Strategy &amp; Facade Patterns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64008" cy="1645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1887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612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StudyCore?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8912" y="164592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C++ console app that helps students plan their exam study schedule intelligently based on subjects, deadlines, and weakness levels.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420624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51560"/>
            <a:ext cx="64008" cy="1645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1887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1612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Algorithm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19472" y="164592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sorts subjects by exam date and distributes chapters across available days, reserving the last day for revision.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2880360"/>
            <a:ext cx="420624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880360"/>
            <a:ext cx="64008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0175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990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OOP Design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38912" y="347472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classes using encapsulation, inheritance, abstraction, and polymorphism. Follows industry-grade design patterns.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880360"/>
            <a:ext cx="420624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88036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0175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2990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19472" y="347472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per-day study plan with chapter targets, weak-subject warnings, heavy-load alerts, and revision days.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37260"/>
            <a:ext cx="265176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0700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188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69848" y="1554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name &amp; ID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2468880"/>
            <a:ext cx="2651760" cy="137160"/>
          </a:xfrm>
          <a:prstGeom prst="rect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46120" y="1005840"/>
            <a:ext cx="265176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20700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95928" y="1188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Manager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995928" y="1554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View, Delete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46120" y="2468880"/>
            <a:ext cx="2651760" cy="13716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72200" y="1005840"/>
            <a:ext cx="265176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20700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22008" y="1188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922008" y="1554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day allocation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72200" y="2468880"/>
            <a:ext cx="2651760" cy="13716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20040" y="2834640"/>
            <a:ext cx="265176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03580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69848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Tracker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069848" y="3383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tracking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0040" y="4297680"/>
            <a:ext cx="2651760" cy="137160"/>
          </a:xfrm>
          <a:prstGeom prst="rect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246120" y="2834640"/>
            <a:ext cx="265176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035808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95928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995928" y="3383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error checks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3246120" y="4297680"/>
            <a:ext cx="2651760" cy="13716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172200" y="2834640"/>
            <a:ext cx="265176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035808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22008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Tips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6922008" y="3383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Weakness-based hints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172200" y="4297680"/>
            <a:ext cx="2651760" cy="137160"/>
          </a:xfrm>
          <a:prstGeom prst="rect">
            <a:avLst/>
          </a:prstGeom>
          <a:solidFill>
            <a:srgbClr val="F9E795">
              <a:alpha val="70000"/>
            </a:srgbClr>
          </a:solidFill>
          <a:ln w="12700">
            <a:solidFill>
              <a:srgbClr val="F9E795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in StudyCore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24128"/>
            <a:ext cx="42062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60704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426464"/>
            <a:ext cx="210312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53896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name;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weaknessLevel;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getName();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setName();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60320" y="1426464"/>
            <a:ext cx="17830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Subject data is private. Access only through public getters/setters.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24128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24128"/>
            <a:ext cx="42062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60704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426464"/>
            <a:ext cx="210312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453896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TimetablePlanner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public Planner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generatePlan(...)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override;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995160" y="1426464"/>
            <a:ext cx="17830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TimetablePlanner inherits from abstract Planner base class.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92608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926080"/>
            <a:ext cx="42062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62656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3328416"/>
            <a:ext cx="210312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5584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Planner* strategy;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strategy-&gt;generatePlan();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Calls correct version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 runtime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60320" y="3328416"/>
            <a:ext cx="17830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function dispatch enables runtime polymorphism via Strategy pointer.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926080"/>
            <a:ext cx="42062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962656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3328416"/>
            <a:ext cx="210312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5584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Planner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virtual void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generatePlan(...) = 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virtual ~Planner() {}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995160" y="3328416"/>
            <a:ext cx="17830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is an abstract interface — defines contract, hides implementation.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>
            <a:extLst>
              <a:ext uri="{FF2B5EF4-FFF2-40B4-BE49-F238E27FC236}">
                <a16:creationId xmlns:a16="http://schemas.microsoft.com/office/drawing/2014/main" id="{FB73617A-4452-12E1-95F7-6EC5F38726D0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Design Pattern</a:t>
            </a:r>
            <a:endParaRPr lang="en-US" sz="2800" dirty="0"/>
          </a:p>
          <a:p>
            <a:endParaRPr lang="en-US" sz="2800" dirty="0"/>
          </a:p>
        </p:txBody>
      </p:sp>
      <p:sp>
        <p:nvSpPr>
          <p:cNvPr id="2" name="Shape 18">
            <a:extLst>
              <a:ext uri="{FF2B5EF4-FFF2-40B4-BE49-F238E27FC236}">
                <a16:creationId xmlns:a16="http://schemas.microsoft.com/office/drawing/2014/main" id="{5A425E14-6234-01D9-8305-6DE9E7078665}"/>
              </a:ext>
            </a:extLst>
          </p:cNvPr>
          <p:cNvSpPr/>
          <p:nvPr/>
        </p:nvSpPr>
        <p:spPr>
          <a:xfrm>
            <a:off x="403860" y="1836420"/>
            <a:ext cx="2423160" cy="30099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Shape 18">
            <a:extLst>
              <a:ext uri="{FF2B5EF4-FFF2-40B4-BE49-F238E27FC236}">
                <a16:creationId xmlns:a16="http://schemas.microsoft.com/office/drawing/2014/main" id="{C4115EC0-5B34-A3A7-4763-95A177214FAF}"/>
              </a:ext>
            </a:extLst>
          </p:cNvPr>
          <p:cNvSpPr/>
          <p:nvPr/>
        </p:nvSpPr>
        <p:spPr>
          <a:xfrm>
            <a:off x="3360420" y="1836420"/>
            <a:ext cx="2423160" cy="30099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18">
            <a:extLst>
              <a:ext uri="{FF2B5EF4-FFF2-40B4-BE49-F238E27FC236}">
                <a16:creationId xmlns:a16="http://schemas.microsoft.com/office/drawing/2014/main" id="{CA693280-2DD8-FA14-98F9-F11FD447E5D6}"/>
              </a:ext>
            </a:extLst>
          </p:cNvPr>
          <p:cNvSpPr/>
          <p:nvPr/>
        </p:nvSpPr>
        <p:spPr>
          <a:xfrm>
            <a:off x="6164580" y="1805940"/>
            <a:ext cx="2423160" cy="30099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19">
            <a:extLst>
              <a:ext uri="{FF2B5EF4-FFF2-40B4-BE49-F238E27FC236}">
                <a16:creationId xmlns:a16="http://schemas.microsoft.com/office/drawing/2014/main" id="{33639C11-0F2C-4E22-C1AC-B2947486F712}"/>
              </a:ext>
            </a:extLst>
          </p:cNvPr>
          <p:cNvSpPr/>
          <p:nvPr/>
        </p:nvSpPr>
        <p:spPr>
          <a:xfrm>
            <a:off x="403860" y="1836420"/>
            <a:ext cx="24231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dirty="0"/>
          </a:p>
        </p:txBody>
      </p:sp>
      <p:sp>
        <p:nvSpPr>
          <p:cNvPr id="8" name="Shape 19">
            <a:extLst>
              <a:ext uri="{FF2B5EF4-FFF2-40B4-BE49-F238E27FC236}">
                <a16:creationId xmlns:a16="http://schemas.microsoft.com/office/drawing/2014/main" id="{A01D36B7-0EE9-7C35-E396-A576C42288CE}"/>
              </a:ext>
            </a:extLst>
          </p:cNvPr>
          <p:cNvSpPr/>
          <p:nvPr/>
        </p:nvSpPr>
        <p:spPr>
          <a:xfrm>
            <a:off x="3360420" y="1836420"/>
            <a:ext cx="24231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19">
            <a:extLst>
              <a:ext uri="{FF2B5EF4-FFF2-40B4-BE49-F238E27FC236}">
                <a16:creationId xmlns:a16="http://schemas.microsoft.com/office/drawing/2014/main" id="{1BA825DD-31C4-B72B-EA12-71A983EF1D28}"/>
              </a:ext>
            </a:extLst>
          </p:cNvPr>
          <p:cNvSpPr/>
          <p:nvPr/>
        </p:nvSpPr>
        <p:spPr>
          <a:xfrm>
            <a:off x="6164580" y="1805940"/>
            <a:ext cx="24231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F3B818-F10A-ABC8-BFFD-01D37564CE4A}"/>
              </a:ext>
            </a:extLst>
          </p:cNvPr>
          <p:cNvSpPr txBox="1"/>
          <p:nvPr/>
        </p:nvSpPr>
        <p:spPr>
          <a:xfrm>
            <a:off x="480060" y="2387560"/>
            <a:ext cx="195072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defines a common method for all strategies.</a:t>
            </a:r>
            <a:br>
              <a:rPr lang="en-US" dirty="0"/>
            </a:br>
            <a:r>
              <a:rPr lang="en-US" dirty="0"/>
              <a:t>Eg:</a:t>
            </a:r>
            <a:br>
              <a:rPr lang="en-US" dirty="0"/>
            </a:br>
            <a:r>
              <a:rPr lang="en-US" sz="1400" i="1" dirty="0"/>
              <a:t>CLASS 2: Planner — Strategy Interface (Abstract Base Class)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FFE395-B984-8706-8B23-9843C4B738D8}"/>
              </a:ext>
            </a:extLst>
          </p:cNvPr>
          <p:cNvSpPr txBox="1"/>
          <p:nvPr/>
        </p:nvSpPr>
        <p:spPr>
          <a:xfrm>
            <a:off x="6454140" y="2494241"/>
            <a:ext cx="19507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the class that uses the strategy.</a:t>
            </a:r>
            <a:br>
              <a:rPr lang="en-US" dirty="0"/>
            </a:br>
            <a:r>
              <a:rPr lang="en-US" dirty="0"/>
              <a:t>Eg:</a:t>
            </a:r>
          </a:p>
          <a:p>
            <a:r>
              <a:rPr lang="en-US" sz="1400" i="1" dirty="0"/>
              <a:t>CLASS 4: </a:t>
            </a:r>
            <a:r>
              <a:rPr lang="en-US" sz="1400" i="1" dirty="0" err="1"/>
              <a:t>StudyContext</a:t>
            </a:r>
            <a:r>
              <a:rPr lang="en-US" sz="1400" i="1" dirty="0"/>
              <a:t> — Strategy Context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869F6E-E910-CC6A-22C1-F7806BAE43AD}"/>
              </a:ext>
            </a:extLst>
          </p:cNvPr>
          <p:cNvSpPr txBox="1"/>
          <p:nvPr/>
        </p:nvSpPr>
        <p:spPr>
          <a:xfrm>
            <a:off x="3596640" y="2390716"/>
            <a:ext cx="195072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are the different ways to do the same thing.</a:t>
            </a:r>
          </a:p>
          <a:p>
            <a:r>
              <a:rPr lang="en-US" dirty="0"/>
              <a:t>Eg:</a:t>
            </a:r>
            <a:br>
              <a:rPr lang="en-US" dirty="0"/>
            </a:br>
            <a:r>
              <a:rPr lang="en-US" sz="1400" i="1" dirty="0"/>
              <a:t>CLASS 3: </a:t>
            </a:r>
            <a:r>
              <a:rPr lang="en-US" sz="1400" i="1" dirty="0" err="1"/>
              <a:t>TimetablePlanner</a:t>
            </a:r>
            <a:r>
              <a:rPr lang="en-US" sz="1400" i="1" dirty="0"/>
              <a:t> — Concrete Strategy</a:t>
            </a:r>
          </a:p>
        </p:txBody>
      </p:sp>
      <p:sp>
        <p:nvSpPr>
          <p:cNvPr id="15" name="Shape 19">
            <a:extLst>
              <a:ext uri="{FF2B5EF4-FFF2-40B4-BE49-F238E27FC236}">
                <a16:creationId xmlns:a16="http://schemas.microsoft.com/office/drawing/2014/main" id="{5B8DF4FB-D8C3-9A89-0F82-9C0336C6BFE0}"/>
              </a:ext>
            </a:extLst>
          </p:cNvPr>
          <p:cNvSpPr/>
          <p:nvPr/>
        </p:nvSpPr>
        <p:spPr>
          <a:xfrm>
            <a:off x="3360420" y="1813560"/>
            <a:ext cx="24231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Strategy</a:t>
            </a:r>
            <a:endParaRPr lang="en-US" dirty="0"/>
          </a:p>
        </p:txBody>
      </p:sp>
      <p:sp>
        <p:nvSpPr>
          <p:cNvPr id="16" name="Shape 19">
            <a:extLst>
              <a:ext uri="{FF2B5EF4-FFF2-40B4-BE49-F238E27FC236}">
                <a16:creationId xmlns:a16="http://schemas.microsoft.com/office/drawing/2014/main" id="{04625326-5D11-1463-76D7-03A309029010}"/>
              </a:ext>
            </a:extLst>
          </p:cNvPr>
          <p:cNvSpPr/>
          <p:nvPr/>
        </p:nvSpPr>
        <p:spPr>
          <a:xfrm>
            <a:off x="6164580" y="1813560"/>
            <a:ext cx="24231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Context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963216-8D55-9232-3EDB-EAB9B5BE5F96}"/>
              </a:ext>
            </a:extLst>
          </p:cNvPr>
          <p:cNvSpPr txBox="1"/>
          <p:nvPr/>
        </p:nvSpPr>
        <p:spPr>
          <a:xfrm>
            <a:off x="403860" y="1018043"/>
            <a:ext cx="6164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It separates the algorithm from the class that uses it. It consist of 3 parts:</a:t>
            </a:r>
          </a:p>
        </p:txBody>
      </p:sp>
    </p:spTree>
    <p:extLst>
      <p:ext uri="{BB962C8B-B14F-4D97-AF65-F5344CB8AC3E}">
        <p14:creationId xmlns:p14="http://schemas.microsoft.com/office/powerpoint/2010/main" val="2699353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F044C-1A2D-CCE8-C3A5-54F240534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>
            <a:extLst>
              <a:ext uri="{FF2B5EF4-FFF2-40B4-BE49-F238E27FC236}">
                <a16:creationId xmlns:a16="http://schemas.microsoft.com/office/drawing/2014/main" id="{345C98BE-418F-B2A9-7535-4FAACAF931E8}"/>
              </a:ext>
            </a:extLst>
          </p:cNvPr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Design Pattern</a:t>
            </a:r>
            <a:endParaRPr lang="en-US" sz="2800" dirty="0"/>
          </a:p>
          <a:p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626587-F2D3-DAA3-74E4-B5C0294DD4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86" t="22235" r="19438" b="54283"/>
          <a:stretch>
            <a:fillRect/>
          </a:stretch>
        </p:blipFill>
        <p:spPr>
          <a:xfrm>
            <a:off x="64770" y="767298"/>
            <a:ext cx="4377690" cy="18158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BD0A9C-5319-C73E-E4B4-98D90A8A0A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33" t="45333" r="19500" b="14667"/>
          <a:stretch>
            <a:fillRect/>
          </a:stretch>
        </p:blipFill>
        <p:spPr>
          <a:xfrm>
            <a:off x="4766310" y="704850"/>
            <a:ext cx="4377690" cy="1866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4AA241-6142-F27C-6B3B-D289EC4738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33" t="24289" r="17500" b="26019"/>
          <a:stretch>
            <a:fillRect/>
          </a:stretch>
        </p:blipFill>
        <p:spPr>
          <a:xfrm>
            <a:off x="129540" y="2918460"/>
            <a:ext cx="4377690" cy="201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978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Design Pattern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354580" cy="2578608"/>
          </a:xfrm>
          <a:prstGeom prst="rect">
            <a:avLst/>
          </a:prstGeom>
          <a:solidFill>
            <a:srgbClr val="F1F5F9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37744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07008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StudyContext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61260"/>
            <a:ext cx="2171700" cy="13060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1200" dirty="0" err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setPlanner</a:t>
            </a: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(s: Planner*):void</a:t>
            </a:r>
            <a:endParaRPr lang="en-US" sz="1200" dirty="0"/>
          </a:p>
          <a:p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1200" dirty="0" err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executePlan</a:t>
            </a: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/>
              <a:t>subjects :         vector&lt;Subject&gt;&amp;) : void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188720"/>
            <a:ext cx="2560320" cy="1554480"/>
          </a:xfrm>
          <a:prstGeom prst="rect">
            <a:avLst/>
          </a:prstGeom>
          <a:solidFill>
            <a:srgbClr val="F1F5F9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207008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&lt;&lt;interface&gt;&gt;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17602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1200" dirty="0" err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generatePlan</a:t>
            </a: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vector&lt;Subject&gt;&amp;) =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virtual ~Planner() {}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3352800"/>
            <a:ext cx="2560320" cy="1691640"/>
          </a:xfrm>
          <a:prstGeom prst="rect">
            <a:avLst/>
          </a:prstGeom>
          <a:solidFill>
            <a:srgbClr val="F1F5F9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3365754"/>
            <a:ext cx="256032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3334512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TimetablePlanner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34747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1200" dirty="0" err="1"/>
              <a:t>generatePlan</a:t>
            </a:r>
            <a:r>
              <a:rPr lang="en-US" sz="1200" dirty="0"/>
              <a:t>(subjects : vector&lt;Subject&gt;&amp;) : void</a:t>
            </a:r>
          </a:p>
        </p:txBody>
      </p:sp>
      <p:sp>
        <p:nvSpPr>
          <p:cNvPr id="16" name="Shape 14"/>
          <p:cNvSpPr/>
          <p:nvPr/>
        </p:nvSpPr>
        <p:spPr>
          <a:xfrm>
            <a:off x="2651760" y="2331720"/>
            <a:ext cx="8229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754880" y="2743200"/>
            <a:ext cx="0" cy="62255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2720340" y="1798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strategy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28072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46520" y="1188720"/>
            <a:ext cx="2423160" cy="356616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1188720"/>
            <a:ext cx="24231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207008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Strategy?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1627632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Swap planning algorithm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without changing code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Open/Closed Principle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(extend, don't modify)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Easy to add future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planning strategies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Runtime flexibility</a:t>
            </a:r>
            <a:endParaRPr 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9C2F40-1D5B-782B-FDAA-D397826DBA93}"/>
              </a:ext>
            </a:extLst>
          </p:cNvPr>
          <p:cNvSpPr txBox="1"/>
          <p:nvPr/>
        </p:nvSpPr>
        <p:spPr>
          <a:xfrm>
            <a:off x="342900" y="1760220"/>
            <a:ext cx="20231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strategy: Planner*</a:t>
            </a:r>
            <a:endParaRPr lang="en-US" sz="12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CB581C5-D97F-9B39-9768-49BEF1F7E0BE}"/>
              </a:ext>
            </a:extLst>
          </p:cNvPr>
          <p:cNvCxnSpPr>
            <a:cxnSpLocks/>
          </p:cNvCxnSpPr>
          <p:nvPr/>
        </p:nvCxnSpPr>
        <p:spPr>
          <a:xfrm>
            <a:off x="2632710" y="2331720"/>
            <a:ext cx="8420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9D7A26EC-0671-32DD-7538-2E0E01A95733}"/>
              </a:ext>
            </a:extLst>
          </p:cNvPr>
          <p:cNvSpPr/>
          <p:nvPr/>
        </p:nvSpPr>
        <p:spPr>
          <a:xfrm>
            <a:off x="4674108" y="2743200"/>
            <a:ext cx="161544" cy="100584"/>
          </a:xfrm>
          <a:prstGeom prst="triangl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752B9E3-C0B2-9C06-32E8-3E4DDDF551DB}"/>
              </a:ext>
            </a:extLst>
          </p:cNvPr>
          <p:cNvCxnSpPr>
            <a:cxnSpLocks/>
          </p:cNvCxnSpPr>
          <p:nvPr/>
        </p:nvCxnSpPr>
        <p:spPr>
          <a:xfrm>
            <a:off x="251460" y="2331720"/>
            <a:ext cx="2377440" cy="21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A9670-FBB4-5E2A-6C69-1DC8CE663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>
            <a:extLst>
              <a:ext uri="{FF2B5EF4-FFF2-40B4-BE49-F238E27FC236}">
                <a16:creationId xmlns:a16="http://schemas.microsoft.com/office/drawing/2014/main" id="{23A9D7DD-5D02-9B0D-ECB4-2CB3B15D8A21}"/>
              </a:ext>
            </a:extLst>
          </p:cNvPr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sz="2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Design Pattern</a:t>
            </a:r>
            <a:endParaRPr lang="en-US" sz="2800" dirty="0"/>
          </a:p>
          <a:p>
            <a:endParaRPr lang="en-US" sz="2800" dirty="0"/>
          </a:p>
        </p:txBody>
      </p:sp>
      <p:sp>
        <p:nvSpPr>
          <p:cNvPr id="2" name="Shape 18">
            <a:extLst>
              <a:ext uri="{FF2B5EF4-FFF2-40B4-BE49-F238E27FC236}">
                <a16:creationId xmlns:a16="http://schemas.microsoft.com/office/drawing/2014/main" id="{47327102-EE58-F205-2681-B0DAADC46F1C}"/>
              </a:ext>
            </a:extLst>
          </p:cNvPr>
          <p:cNvSpPr/>
          <p:nvPr/>
        </p:nvSpPr>
        <p:spPr>
          <a:xfrm>
            <a:off x="403860" y="1836420"/>
            <a:ext cx="2423160" cy="30099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Shape 18">
            <a:extLst>
              <a:ext uri="{FF2B5EF4-FFF2-40B4-BE49-F238E27FC236}">
                <a16:creationId xmlns:a16="http://schemas.microsoft.com/office/drawing/2014/main" id="{C258D0D3-9D64-D3BF-BECC-71B309B6654A}"/>
              </a:ext>
            </a:extLst>
          </p:cNvPr>
          <p:cNvSpPr/>
          <p:nvPr/>
        </p:nvSpPr>
        <p:spPr>
          <a:xfrm>
            <a:off x="3360420" y="1836420"/>
            <a:ext cx="2423160" cy="30099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18">
            <a:extLst>
              <a:ext uri="{FF2B5EF4-FFF2-40B4-BE49-F238E27FC236}">
                <a16:creationId xmlns:a16="http://schemas.microsoft.com/office/drawing/2014/main" id="{1CAB3103-4F2B-BF03-65FC-89E520E5B7E6}"/>
              </a:ext>
            </a:extLst>
          </p:cNvPr>
          <p:cNvSpPr/>
          <p:nvPr/>
        </p:nvSpPr>
        <p:spPr>
          <a:xfrm>
            <a:off x="6164580" y="1805940"/>
            <a:ext cx="2423160" cy="30099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C98E5D-00AC-FB65-2088-D962C19B2BEF}"/>
              </a:ext>
            </a:extLst>
          </p:cNvPr>
          <p:cNvSpPr txBox="1"/>
          <p:nvPr/>
        </p:nvSpPr>
        <p:spPr>
          <a:xfrm>
            <a:off x="480060" y="2387560"/>
            <a:ext cx="22479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The Facade Pattern is a structural design pattern that provides a simplified, unified interface to a complex system of classes,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D99923-2D91-4198-08E0-A7F927AEFF10}"/>
              </a:ext>
            </a:extLst>
          </p:cNvPr>
          <p:cNvSpPr txBox="1"/>
          <p:nvPr/>
        </p:nvSpPr>
        <p:spPr>
          <a:xfrm>
            <a:off x="6454140" y="2494241"/>
            <a:ext cx="19507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This reduces complexity, improves readability, and decouples the client from subsystem details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93A9B8-C81B-6156-669A-7419183BAE1C}"/>
              </a:ext>
            </a:extLst>
          </p:cNvPr>
          <p:cNvSpPr txBox="1"/>
          <p:nvPr/>
        </p:nvSpPr>
        <p:spPr>
          <a:xfrm>
            <a:off x="3596640" y="2390716"/>
            <a:ext cx="19507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 Instead of interacting with multiple components directly, clients use a single “facade” class that handles the coordination behind the scenes.</a:t>
            </a:r>
          </a:p>
        </p:txBody>
      </p:sp>
    </p:spTree>
    <p:extLst>
      <p:ext uri="{BB962C8B-B14F-4D97-AF65-F5344CB8AC3E}">
        <p14:creationId xmlns:p14="http://schemas.microsoft.com/office/powerpoint/2010/main" val="2576395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62EC1-E010-93AB-7B8C-8533C6160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>
            <a:extLst>
              <a:ext uri="{FF2B5EF4-FFF2-40B4-BE49-F238E27FC236}">
                <a16:creationId xmlns:a16="http://schemas.microsoft.com/office/drawing/2014/main" id="{B0509BAD-380E-5FFE-C1F8-71A8AF5DB11E}"/>
              </a:ext>
            </a:extLst>
          </p:cNvPr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Design Pattern</a:t>
            </a:r>
            <a:endParaRPr lang="en-US" sz="2800" dirty="0"/>
          </a:p>
          <a:p>
            <a:endParaRPr lang="en-US" sz="2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47C5F3D-AC21-B649-7C53-4C2353F2A3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67" t="16444" r="18166" b="40060"/>
          <a:stretch>
            <a:fillRect/>
          </a:stretch>
        </p:blipFill>
        <p:spPr>
          <a:xfrm>
            <a:off x="114300" y="647700"/>
            <a:ext cx="4457700" cy="18238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7C74A91-4B35-22D4-9048-D62D6C821A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148" t="37209" r="13098" b="31627"/>
          <a:stretch>
            <a:fillRect/>
          </a:stretch>
        </p:blipFill>
        <p:spPr>
          <a:xfrm>
            <a:off x="4717773" y="2671972"/>
            <a:ext cx="4050197" cy="14660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D28E661-5188-F141-0950-3BA19093DD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826" t="34845" r="26296" b="37716"/>
          <a:stretch>
            <a:fillRect/>
          </a:stretch>
        </p:blipFill>
        <p:spPr>
          <a:xfrm>
            <a:off x="4686300" y="715617"/>
            <a:ext cx="4081670" cy="175591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F818CEE-57B1-F9DB-9B0A-955FA3F1A5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784" t="28726" r="22707" b="37473"/>
          <a:stretch>
            <a:fillRect/>
          </a:stretch>
        </p:blipFill>
        <p:spPr>
          <a:xfrm>
            <a:off x="231914" y="2671972"/>
            <a:ext cx="4340086" cy="152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406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63A24-3188-9FDF-B025-8FEA4AC81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>
            <a:extLst>
              <a:ext uri="{FF2B5EF4-FFF2-40B4-BE49-F238E27FC236}">
                <a16:creationId xmlns:a16="http://schemas.microsoft.com/office/drawing/2014/main" id="{A14979E7-1AAF-2AC9-982B-B33DE3767D23}"/>
              </a:ext>
            </a:extLst>
          </p:cNvPr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Design Pattern</a:t>
            </a:r>
            <a:endParaRPr lang="en-US" sz="2800" dirty="0"/>
          </a:p>
          <a:p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1AFB64-45B9-4A01-B74F-413E2E280F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50" t="68862" b="14095"/>
          <a:stretch>
            <a:fillRect/>
          </a:stretch>
        </p:blipFill>
        <p:spPr>
          <a:xfrm>
            <a:off x="218661" y="967409"/>
            <a:ext cx="8090452" cy="241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159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Design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 flipV="1">
            <a:off x="457200" y="710184"/>
            <a:ext cx="5090160" cy="9448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164592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645920" cy="320040"/>
          </a:xfrm>
          <a:prstGeom prst="rect">
            <a:avLst/>
          </a:prstGeom>
          <a:solidFill>
            <a:srgbClr val="38BDF8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02412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StudyFacade app;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app.start();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20240" y="1463040"/>
            <a:ext cx="457200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9" name="Shape 7"/>
          <p:cNvSpPr/>
          <p:nvPr/>
        </p:nvSpPr>
        <p:spPr>
          <a:xfrm>
            <a:off x="2377440" y="914400"/>
            <a:ext cx="2743200" cy="3474720"/>
          </a:xfrm>
          <a:prstGeom prst="rect">
            <a:avLst/>
          </a:prstGeom>
          <a:solidFill>
            <a:srgbClr val="1E293B"/>
          </a:solidFill>
          <a:ln w="317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914400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4872" y="932688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StudyFacade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1353312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subjects: vector&lt;Subject&gt;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planner: TimetablePlanner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context: StudyContext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userName, </a:t>
            </a:r>
            <a:r>
              <a:rPr lang="en-US" sz="1200" dirty="0" err="1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</a:t>
            </a: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string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start() : void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1200" dirty="0" err="1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manageSubjects</a:t>
            </a: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 void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1200" dirty="0" err="1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studyProgress</a:t>
            </a: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 void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1463040"/>
            <a:ext cx="6400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dash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760720" y="528063"/>
            <a:ext cx="3017520" cy="1383033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265176"/>
            <a:ext cx="301752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19" y="3009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9780" y="682752"/>
            <a:ext cx="274320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string</a:t>
            </a:r>
            <a:b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totalChapters</a:t>
            </a:r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int</a:t>
            </a: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daysUntilExam</a:t>
            </a:r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int</a:t>
            </a:r>
            <a:endParaRPr lang="en-US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weaknessLevel</a:t>
            </a:r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int</a:t>
            </a:r>
          </a:p>
          <a:p>
            <a:pPr marL="171450" indent="-171450">
              <a:buFontTx/>
              <a:buChar char="-"/>
            </a:pPr>
            <a:r>
              <a:rPr lang="en-US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chaptersCompleted</a:t>
            </a:r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int</a:t>
            </a:r>
          </a:p>
          <a:p>
            <a:pPr marL="171450" indent="-171450">
              <a:buFontTx/>
              <a:buChar char="-"/>
            </a:pPr>
            <a:endParaRPr lang="en-US" sz="1100" dirty="0">
              <a:solidFill>
                <a:schemeClr val="accent1">
                  <a:lumMod val="60000"/>
                  <a:lumOff val="40000"/>
                </a:schemeClr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1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addProgress</a:t>
            </a:r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(n): void</a:t>
            </a:r>
            <a:endParaRPr lang="en-US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display(): void</a:t>
            </a:r>
            <a:endParaRPr lang="en-US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171450" indent="-171450">
              <a:buFontTx/>
              <a:buChar char="-"/>
            </a:pPr>
            <a:endParaRPr lang="en-US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120640" y="2468880"/>
            <a:ext cx="640080" cy="0"/>
          </a:xfrm>
          <a:prstGeom prst="line">
            <a:avLst/>
          </a:prstGeom>
          <a:ln>
            <a:tailEnd type="non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sp>
      <p:sp>
        <p:nvSpPr>
          <p:cNvPr id="19" name="Shape 17"/>
          <p:cNvSpPr/>
          <p:nvPr/>
        </p:nvSpPr>
        <p:spPr>
          <a:xfrm>
            <a:off x="5760720" y="2011680"/>
            <a:ext cx="3017520" cy="822960"/>
          </a:xfrm>
          <a:prstGeom prst="rect">
            <a:avLst/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60720" y="2011680"/>
            <a:ext cx="301752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029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TimetablePlanner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52160" y="2350008"/>
            <a:ext cx="2834640" cy="433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12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generatePlan</a:t>
            </a:r>
            <a:r>
              <a:rPr lang="en-US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(subjects : vector&lt;Subject&gt;&amp;) : void</a:t>
            </a:r>
          </a:p>
          <a:p>
            <a:pPr marL="0" indent="0">
              <a:buNone/>
            </a:pPr>
            <a:endParaRPr lang="en-US" sz="12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120640" y="3474720"/>
            <a:ext cx="640080" cy="0"/>
          </a:xfrm>
          <a:prstGeom prst="line">
            <a:avLst/>
          </a:prstGeom>
          <a:ln>
            <a:solidFill>
              <a:srgbClr val="7030A0"/>
            </a:solidFill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sp>
      <p:sp>
        <p:nvSpPr>
          <p:cNvPr id="24" name="Shape 22"/>
          <p:cNvSpPr/>
          <p:nvPr/>
        </p:nvSpPr>
        <p:spPr>
          <a:xfrm>
            <a:off x="5760720" y="3063240"/>
            <a:ext cx="3017520" cy="1175004"/>
          </a:xfrm>
          <a:prstGeom prst="rect">
            <a:avLst/>
          </a:prstGeom>
          <a:solidFill>
            <a:srgbClr val="0F172A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760720" y="3063240"/>
            <a:ext cx="301752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3081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StudyContext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0" y="3714750"/>
            <a:ext cx="2834640" cy="617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accent1">
                    <a:lumMod val="40000"/>
                    <a:lumOff val="60000"/>
                  </a:schemeClr>
                </a:solidFill>
                <a:ea typeface="Consolas" pitchFamily="34" charset="-122"/>
                <a:cs typeface="Consolas" pitchFamily="34" charset="-120"/>
              </a:rPr>
              <a:t>- strategy: Planner*</a:t>
            </a:r>
            <a:endParaRPr 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sz="1100" dirty="0">
                <a:solidFill>
                  <a:schemeClr val="accent1">
                    <a:lumMod val="40000"/>
                    <a:lumOff val="60000"/>
                  </a:schemeClr>
                </a:solidFill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1100" dirty="0" err="1">
                <a:solidFill>
                  <a:schemeClr val="accent1">
                    <a:lumMod val="40000"/>
                    <a:lumOff val="60000"/>
                  </a:schemeClr>
                </a:solidFill>
                <a:ea typeface="Consolas" pitchFamily="34" charset="-122"/>
                <a:cs typeface="Consolas" pitchFamily="34" charset="-120"/>
              </a:rPr>
              <a:t>setPlanner</a:t>
            </a:r>
            <a:r>
              <a:rPr lang="en-US" sz="1100" dirty="0">
                <a:solidFill>
                  <a:schemeClr val="accent1">
                    <a:lumMod val="40000"/>
                    <a:lumOff val="60000"/>
                  </a:schemeClr>
                </a:solidFill>
                <a:ea typeface="Consolas" pitchFamily="34" charset="-122"/>
                <a:cs typeface="Consolas" pitchFamily="34" charset="-120"/>
              </a:rPr>
              <a:t>(s: Planner*):void</a:t>
            </a:r>
            <a:endParaRPr 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sz="1100" dirty="0">
                <a:solidFill>
                  <a:schemeClr val="accent1">
                    <a:lumMod val="40000"/>
                    <a:lumOff val="60000"/>
                  </a:schemeClr>
                </a:solidFill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1100" dirty="0" err="1">
                <a:solidFill>
                  <a:schemeClr val="accent1">
                    <a:lumMod val="40000"/>
                    <a:lumOff val="60000"/>
                  </a:schemeClr>
                </a:solidFill>
                <a:ea typeface="Consolas" pitchFamily="34" charset="-122"/>
                <a:cs typeface="Consolas" pitchFamily="34" charset="-120"/>
              </a:rPr>
              <a:t>executePlan</a:t>
            </a:r>
            <a:r>
              <a:rPr lang="en-US" sz="1100" dirty="0">
                <a:solidFill>
                  <a:schemeClr val="accent1">
                    <a:lumMod val="40000"/>
                    <a:lumOff val="60000"/>
                  </a:schemeClr>
                </a:solidFill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subjects :         vector&lt;Subject&gt;&amp;) : void</a:t>
            </a:r>
          </a:p>
          <a:p>
            <a:endParaRPr 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82880" y="4239767"/>
            <a:ext cx="8595360" cy="51663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Facade hides all complexity — main() only needs 2 lines to run the entire application</a:t>
            </a:r>
            <a:endParaRPr lang="en-US" sz="12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EFC7CCA-07C9-FDD7-7A76-EAB346FB8336}"/>
              </a:ext>
            </a:extLst>
          </p:cNvPr>
          <p:cNvCxnSpPr>
            <a:cxnSpLocks/>
          </p:cNvCxnSpPr>
          <p:nvPr/>
        </p:nvCxnSpPr>
        <p:spPr>
          <a:xfrm>
            <a:off x="5120640" y="1463040"/>
            <a:ext cx="64008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Diamond 33">
            <a:extLst>
              <a:ext uri="{FF2B5EF4-FFF2-40B4-BE49-F238E27FC236}">
                <a16:creationId xmlns:a16="http://schemas.microsoft.com/office/drawing/2014/main" id="{377C807F-94EE-3032-4528-D2C2590FB62F}"/>
              </a:ext>
            </a:extLst>
          </p:cNvPr>
          <p:cNvSpPr/>
          <p:nvPr/>
        </p:nvSpPr>
        <p:spPr>
          <a:xfrm rot="5400000">
            <a:off x="5478780" y="1309115"/>
            <a:ext cx="274320" cy="289561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3E57A124-8CE1-D799-0979-14DF85F77A71}"/>
              </a:ext>
            </a:extLst>
          </p:cNvPr>
          <p:cNvSpPr/>
          <p:nvPr/>
        </p:nvSpPr>
        <p:spPr>
          <a:xfrm rot="5400000">
            <a:off x="5478779" y="3339084"/>
            <a:ext cx="274320" cy="289561"/>
          </a:xfrm>
          <a:prstGeom prst="diamond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A4D4D02E-FE4D-1B3A-1FED-0EBC8DD578B6}"/>
              </a:ext>
            </a:extLst>
          </p:cNvPr>
          <p:cNvSpPr/>
          <p:nvPr/>
        </p:nvSpPr>
        <p:spPr>
          <a:xfrm>
            <a:off x="2255520" y="1453895"/>
            <a:ext cx="121920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8445EF74-0859-7F39-9CC8-58D16C62DE54}"/>
              </a:ext>
            </a:extLst>
          </p:cNvPr>
          <p:cNvSpPr/>
          <p:nvPr/>
        </p:nvSpPr>
        <p:spPr>
          <a:xfrm rot="5400000">
            <a:off x="5494020" y="2330196"/>
            <a:ext cx="274320" cy="289561"/>
          </a:xfrm>
          <a:prstGeom prst="diamond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BA726B-D5EE-42C5-5BC2-BB5BD2591BFB}"/>
              </a:ext>
            </a:extLst>
          </p:cNvPr>
          <p:cNvCxnSpPr>
            <a:cxnSpLocks/>
          </p:cNvCxnSpPr>
          <p:nvPr/>
        </p:nvCxnSpPr>
        <p:spPr>
          <a:xfrm>
            <a:off x="2377440" y="2948940"/>
            <a:ext cx="2743200" cy="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5D8A231-E2C5-5C3D-33AF-473E590903B6}"/>
              </a:ext>
            </a:extLst>
          </p:cNvPr>
          <p:cNvCxnSpPr>
            <a:cxnSpLocks/>
          </p:cNvCxnSpPr>
          <p:nvPr/>
        </p:nvCxnSpPr>
        <p:spPr>
          <a:xfrm>
            <a:off x="5760719" y="3621025"/>
            <a:ext cx="3017520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E0B2472-4820-698F-CEE3-5F1B15DA1F15}"/>
              </a:ext>
            </a:extLst>
          </p:cNvPr>
          <p:cNvCxnSpPr>
            <a:cxnSpLocks/>
          </p:cNvCxnSpPr>
          <p:nvPr/>
        </p:nvCxnSpPr>
        <p:spPr>
          <a:xfrm>
            <a:off x="5715000" y="1472185"/>
            <a:ext cx="301752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— 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834640" cy="1975104"/>
          </a:xfrm>
          <a:prstGeom prst="rect">
            <a:avLst/>
          </a:prstGeom>
          <a:solidFill>
            <a:srgbClr val="F1F5F9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69848"/>
            <a:ext cx="28346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078992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string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6184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totalChapters: int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8196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daysUntilExam: int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20208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850" dirty="0" err="1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weaknessLevel</a:t>
            </a: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2221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chaptersCompleted: int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24231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getName()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26243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addProgress()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282549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display()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37560" y="1051560"/>
            <a:ext cx="2834640" cy="969264"/>
          </a:xfrm>
          <a:prstGeom prst="rect">
            <a:avLst/>
          </a:prstGeom>
          <a:solidFill>
            <a:srgbClr val="F1F5F9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051560"/>
            <a:ext cx="28346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1078992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&lt;&lt;interface&gt;&gt;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14173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generatePlan()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29000" y="16184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(pure virtual)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29000" y="18196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~Planner()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17920" y="2286000"/>
            <a:ext cx="2834640" cy="969264"/>
          </a:xfrm>
          <a:prstGeom prst="rect">
            <a:avLst/>
          </a:prstGeom>
          <a:solidFill>
            <a:srgbClr val="F1F5F9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2286000"/>
            <a:ext cx="28346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2313432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TimetablePlanner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6517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generatePlan() override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09360" y="28529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Bubble sort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09360" y="305409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Smart allocation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37560" y="3200400"/>
            <a:ext cx="2834640" cy="969264"/>
          </a:xfrm>
          <a:prstGeom prst="rect">
            <a:avLst/>
          </a:prstGeom>
          <a:solidFill>
            <a:srgbClr val="F1F5F9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37560" y="3200400"/>
            <a:ext cx="28346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0712" y="3227832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StudyContext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29000" y="35661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strategy: Planner*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29000" y="37673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setPlanner()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29000" y="396849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executePlan()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200400"/>
            <a:ext cx="2834640" cy="1572768"/>
          </a:xfrm>
          <a:prstGeom prst="rect">
            <a:avLst/>
          </a:prstGeom>
          <a:solidFill>
            <a:srgbClr val="F1F5F9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3200400"/>
            <a:ext cx="28346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" y="3227832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StudyFacade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35661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subjects: vector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0040" y="37673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planner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0040" y="396849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context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20040" y="41696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start()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20040" y="43708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manageSubjects()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20040" y="45720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studyProgress()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17920" y="1828800"/>
            <a:ext cx="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dash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1645920" y="3200400"/>
            <a:ext cx="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3063240" y="365760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4343400" y="3200400"/>
            <a:ext cx="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  <a:tailEnd type="none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— Key 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addProgress() — Validation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931920" cy="2423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3840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addProgress(int count)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remaining = totalChapters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- chaptersCompleted;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(count &lt; 1 || count &gt; remaining)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"Only " &lt;&lt; remaining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&lt;&lt; " left! Re-enter: ";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count;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chaptersCompleted += count;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3913632"/>
            <a:ext cx="39319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input — loops until valid entry. Never overwrites more than remaining chapters.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241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executePlan()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3931920" cy="2423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463040"/>
            <a:ext cx="3840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executePlan(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vector&lt;Subject&gt;&amp; subjects)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(strategy)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strategy-&gt;generatePlan(subjects);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Context delegates to: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TimetablePlanner::generatePlan()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via virtual dispatch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3913632"/>
            <a:ext cx="39319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caller from algorithm. strategy pointer enables runtime swap.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Algorithm — Flowchart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 w="1905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33272"/>
            <a:ext cx="1737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subjects list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88720" y="141732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74320" y="1691640"/>
            <a:ext cx="1828800" cy="457200"/>
          </a:xfrm>
          <a:prstGeom prst="rect">
            <a:avLst/>
          </a:prstGeom>
          <a:solidFill>
            <a:srgbClr val="F59E0B"/>
          </a:solidFill>
          <a:ln w="1905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7190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subjects empty?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88720" y="214884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74320" y="242316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905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450592"/>
            <a:ext cx="1737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by daysUntilExam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88720" y="283464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274320" y="310896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905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3136392"/>
            <a:ext cx="1737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subject 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88720" y="352044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274320" y="3794760"/>
            <a:ext cx="1828800" cy="457200"/>
          </a:xfrm>
          <a:prstGeom prst="rect">
            <a:avLst/>
          </a:prstGeom>
          <a:solidFill>
            <a:srgbClr val="F59E0B"/>
          </a:solidFill>
          <a:ln w="1905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82219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chaptersLeft == 0?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88720" y="425196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274320" y="452628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905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4553712"/>
            <a:ext cx="1737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All days Revision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03120" y="1920240"/>
            <a:ext cx="64008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2743200" y="173736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 w="1905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88920" y="1764792"/>
            <a:ext cx="1554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No subjects!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1719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88720" y="21671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03120" y="39867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88720" y="42793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1005840"/>
            <a:ext cx="4297680" cy="4023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1005840"/>
            <a:ext cx="42976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102412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Allocation Logic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1444752"/>
            <a:ext cx="2286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444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daysLeft == 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83480" y="16459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Day 1 = Revise everything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020824"/>
            <a:ext cx="2286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0208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All chapters done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83480" y="2221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All days = Revision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596896"/>
            <a:ext cx="2286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25968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Normal smart calc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83480" y="27980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chaptersPerDay = max(1, chapLeft/days)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172968"/>
            <a:ext cx="2286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1729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chapters spread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83480" y="33741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 days get +1 extra chapter each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749040"/>
            <a:ext cx="2286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37490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day = always Revision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83480" y="39502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 REVISION DAY *** reserved always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4325112"/>
            <a:ext cx="2286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0" y="43251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check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83480" y="45262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≥7: [Focus Hard!]  ≥8: Start first each day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 — User Interaction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" y="1143000"/>
            <a:ext cx="1005840" cy="10058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" y="107899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" y="1078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0" y="2240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Profile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0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Student ID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143000" y="164592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1645920" y="1143000"/>
            <a:ext cx="1005840" cy="10058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20" y="1371600"/>
            <a:ext cx="548640" cy="5486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304288" y="107899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304288" y="1078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508760" y="2240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508760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main options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2651760" y="164592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18" name="Shape 14"/>
          <p:cNvSpPr/>
          <p:nvPr/>
        </p:nvSpPr>
        <p:spPr>
          <a:xfrm>
            <a:off x="3154680" y="114300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1371600"/>
            <a:ext cx="548640" cy="5486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813048" y="107899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813048" y="1078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017520" y="2240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Subjects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017520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Chapters, days, weakness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4160520" y="164592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25" name="Shape 20"/>
          <p:cNvSpPr/>
          <p:nvPr/>
        </p:nvSpPr>
        <p:spPr>
          <a:xfrm>
            <a:off x="4663440" y="1143000"/>
            <a:ext cx="1005840" cy="10058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371600"/>
            <a:ext cx="548640" cy="54864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5321808" y="107899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321808" y="1078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526280" y="2240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526280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chapters done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5669280" y="164592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32" name="Shape 26"/>
          <p:cNvSpPr/>
          <p:nvPr/>
        </p:nvSpPr>
        <p:spPr>
          <a:xfrm>
            <a:off x="6172200" y="1143000"/>
            <a:ext cx="1005840" cy="10058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371600"/>
            <a:ext cx="548640" cy="54864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6830568" y="107899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830568" y="1078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6035040" y="2240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Plan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6035040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7178040" y="1645920"/>
            <a:ext cx="502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none"/>
          </a:ln>
        </p:spPr>
      </p:sp>
      <p:sp>
        <p:nvSpPr>
          <p:cNvPr id="39" name="Shape 32"/>
          <p:cNvSpPr/>
          <p:nvPr/>
        </p:nvSpPr>
        <p:spPr>
          <a:xfrm>
            <a:off x="7680960" y="114300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0" y="1371600"/>
            <a:ext cx="548640" cy="54864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8339328" y="107899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8339328" y="1078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7543800" y="2240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Success!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7543800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consistent</a:t>
            </a:r>
            <a:endParaRPr lang="en-US" sz="850" dirty="0"/>
          </a:p>
        </p:txBody>
      </p:sp>
      <p:sp>
        <p:nvSpPr>
          <p:cNvPr id="45" name="Shape 37"/>
          <p:cNvSpPr/>
          <p:nvPr/>
        </p:nvSpPr>
        <p:spPr>
          <a:xfrm>
            <a:off x="274320" y="3108960"/>
            <a:ext cx="859536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38"/>
          <p:cNvSpPr/>
          <p:nvPr/>
        </p:nvSpPr>
        <p:spPr>
          <a:xfrm>
            <a:off x="45720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Program Details</a:t>
            </a:r>
            <a:endParaRPr lang="en-US" sz="1300" dirty="0"/>
          </a:p>
        </p:txBody>
      </p:sp>
      <p:sp>
        <p:nvSpPr>
          <p:cNvPr id="47" name="Shape 39"/>
          <p:cNvSpPr/>
          <p:nvPr/>
        </p:nvSpPr>
        <p:spPr>
          <a:xfrm>
            <a:off x="457200" y="365760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713232" y="3611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classes — each with single responsibility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3200400" y="365760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3456432" y="3611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loops for menu navigation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5943600" y="365760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6199632" y="3611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vector&lt;Subject&gt; stores all subject data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457200" y="420624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713232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for exam priority ordering</a:t>
            </a:r>
            <a:endParaRPr lang="en-US" sz="1000" dirty="0"/>
          </a:p>
        </p:txBody>
      </p:sp>
      <p:sp>
        <p:nvSpPr>
          <p:cNvPr id="55" name="Shape 47"/>
          <p:cNvSpPr/>
          <p:nvPr/>
        </p:nvSpPr>
        <p:spPr>
          <a:xfrm>
            <a:off x="3200400" y="420624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3456432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validated at every entry point</a:t>
            </a:r>
            <a:endParaRPr lang="en-US" sz="1000" dirty="0"/>
          </a:p>
        </p:txBody>
      </p:sp>
      <p:sp>
        <p:nvSpPr>
          <p:cNvPr id="57" name="Shape 49"/>
          <p:cNvSpPr/>
          <p:nvPr/>
        </p:nvSpPr>
        <p:spPr>
          <a:xfrm>
            <a:off x="5943600" y="420624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6199632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 for swappable algorithms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Console Output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22960"/>
            <a:ext cx="4297680" cy="4114800"/>
          </a:xfrm>
          <a:prstGeom prst="rect">
            <a:avLst/>
          </a:prstGeom>
          <a:solidFill>
            <a:srgbClr val="0D1117"/>
          </a:solidFill>
          <a:ln w="254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29768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9611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89611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8961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85953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StudyCore Terminal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161288"/>
            <a:ext cx="4160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+==========================================+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0040" y="1344168"/>
            <a:ext cx="4160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     WELCOME TO STUDYCORE             |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0040" y="1527048"/>
            <a:ext cx="4160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Intelligent Study Engine v1.0         |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0040" y="1709928"/>
            <a:ext cx="4160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+==========================================+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0040" y="1892808"/>
            <a:ext cx="4160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0040" y="2075688"/>
            <a:ext cx="4160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Enter Your Name : Ahmed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0040" y="2258568"/>
            <a:ext cx="4160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Enter Your ID   : CS-2024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0040" y="2441448"/>
            <a:ext cx="4160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Welcome, Ahmed! Profile created.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0040" y="2624328"/>
            <a:ext cx="4160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20040" y="2807208"/>
            <a:ext cx="4160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+==========================================+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20040" y="2990088"/>
            <a:ext cx="4160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          DASHBOARD                   |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20040" y="3172968"/>
            <a:ext cx="4160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+==========================================+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0040" y="3355848"/>
            <a:ext cx="4160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View Profile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20040" y="3538728"/>
            <a:ext cx="4160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Manage Subjects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20040" y="3721608"/>
            <a:ext cx="4160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Generate Timetable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20040" y="3904488"/>
            <a:ext cx="4160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Study Progress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20040" y="4087368"/>
            <a:ext cx="4160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 Exit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846320" y="822960"/>
            <a:ext cx="4023360" cy="4114800"/>
          </a:xfrm>
          <a:prstGeom prst="rect">
            <a:avLst/>
          </a:prstGeom>
          <a:solidFill>
            <a:srgbClr val="0D1117"/>
          </a:solidFill>
          <a:ln w="254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822960"/>
            <a:ext cx="402336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83480" y="89611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75504" y="89611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67528" y="8961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8595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Output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116128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==========================================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92040" y="134416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Subject : Mathematics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92040" y="152704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==========================================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92040" y="170992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Chapters Left   : 8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92040" y="189280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Days Until Exam : 5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92040" y="207568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Study Days    : 4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92040" y="225856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Revision Days : 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92040" y="244144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92040" y="262432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Day 1 : Chapter 1 to 2  [ Weak - Focus! ]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92040" y="280720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Day 2 : Chapter 3 to 4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92040" y="299008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Day 3 : Chapter 5 to 6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892040" y="317296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Day 4 : Chapter 7 to 8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92040" y="335584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Day 5 : *** REVISION DAY ***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892040" y="353872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92040" y="372160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Tip: Weakest subject - start first.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892040" y="390448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892040" y="408736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Timetable Ready! Stay Consistent!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572000" cy="45720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" y="1033272"/>
            <a:ext cx="4572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1887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all 4 pillars of OOP in C++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5623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185623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Strategy + Facade design patterns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23744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252374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algorithm with edge-case handling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91256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19125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input validation throughout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858768"/>
            <a:ext cx="347472" cy="34747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60120" y="385876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extensible architecture for future enhancements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411480" y="47091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StudyCore — Built in C++  |  5 Classes  |  2 Design Patterns  |  1 Smart Algorithm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1519</Words>
  <Application>Microsoft Office PowerPoint</Application>
  <PresentationFormat>On-screen Show (16:9)</PresentationFormat>
  <Paragraphs>298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StudyCore — Intelligent Study Engine</dc:title>
  <dc:subject>PptxGenJS Presentation</dc:subject>
  <dc:creator>StudyCore</dc:creator>
  <cp:lastModifiedBy>Eman</cp:lastModifiedBy>
  <cp:revision>8</cp:revision>
  <dcterms:created xsi:type="dcterms:W3CDTF">2026-04-21T09:58:26Z</dcterms:created>
  <dcterms:modified xsi:type="dcterms:W3CDTF">2026-04-24T15:21:44Z</dcterms:modified>
</cp:coreProperties>
</file>